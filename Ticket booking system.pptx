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89492" autoAdjust="0"/>
  </p:normalViewPr>
  <p:slideViewPr>
    <p:cSldViewPr snapToGrid="0" snapToObjects="1">
      <p:cViewPr varScale="1">
        <p:scale>
          <a:sx n="83" d="100"/>
          <a:sy n="83" d="100"/>
        </p:scale>
        <p:origin x="72" y="120"/>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8/20/2026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20-08-2026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20-08-2026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20-08-2026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20-08-2026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20-08-2026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20-08-2026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20-08-2026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20-08-2026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20-08-2026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20-08-2026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20-08-2026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20-08-2026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20-08-2026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20-08-2026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20-08-2026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20-08-2026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20-08-2026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20-08-2026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1136074" y="754964"/>
            <a:ext cx="9448800" cy="672684"/>
          </a:xfrm>
        </p:spPr>
        <p:txBody>
          <a:bodyPr>
            <a:noAutofit/>
          </a:bodyPr>
          <a:lstStyle/>
          <a:p>
            <a:pPr algn="ctr">
              <a:lnSpc>
                <a:spcPct val="100000"/>
              </a:lnSpc>
            </a:pP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b="1" dirty="0">
                <a:cs typeface="Arial" panose="020B0604020202020204" pitchFamily="34" charset="0"/>
              </a:rPr>
            </a:br>
            <a:br>
              <a:rPr lang="en-US" sz="2400" dirty="0">
                <a:latin typeface="+mn-lt"/>
                <a:cs typeface="Arial" panose="020B0604020202020204" pitchFamily="34" charset="0"/>
              </a:rPr>
            </a:br>
            <a:r>
              <a:rPr lang="en-US" sz="3600" dirty="0">
                <a:solidFill>
                  <a:schemeClr val="accent1">
                    <a:lumMod val="75000"/>
                  </a:schemeClr>
                </a:solidFill>
                <a:latin typeface="Algerian" panose="04020705040A02060702" pitchFamily="82" charset="0"/>
                <a:ea typeface="Gelasio" pitchFamily="34" charset="-122"/>
                <a:cs typeface="Gelasio" pitchFamily="34" charset="-120"/>
              </a:rPr>
              <a:t>TICKET BOOKING SYSTEM</a:t>
            </a:r>
            <a:br>
              <a:rPr lang="en-US" sz="2400" dirty="0"/>
            </a:br>
            <a:br>
              <a:rPr lang="en-US" sz="2400" dirty="0">
                <a:solidFill>
                  <a:srgbClr val="FF0000"/>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53016"/>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None/>
            </a:pPr>
            <a:r>
              <a:rPr lang="en-US" sz="2400" dirty="0">
                <a:solidFill>
                  <a:srgbClr val="00B050"/>
                </a:solidFill>
              </a:rPr>
              <a:t>Dr. Spandana</a:t>
            </a:r>
          </a:p>
          <a:p>
            <a:pPr marL="0" indent="0" algn="ctr">
              <a:buFont typeface="Arial" panose="020B0604020202020204" pitchFamily="34" charset="0"/>
              <a:buNone/>
            </a:pPr>
            <a:r>
              <a:rPr lang="en-US" sz="2400" dirty="0">
                <a:solidFill>
                  <a:srgbClr val="00B050"/>
                </a:solidFill>
              </a:rPr>
              <a:t>Assitant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721385669"/>
              </p:ext>
            </p:extLst>
          </p:nvPr>
        </p:nvGraphicFramePr>
        <p:xfrm>
          <a:off x="2032000" y="1607129"/>
          <a:ext cx="8128000" cy="1326007"/>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44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72525"/>
                          </a:solidFill>
                          <a:latin typeface="+mn-lt"/>
                          <a:ea typeface="Lato" pitchFamily="34" charset="-122"/>
                          <a:cs typeface="Lato" pitchFamily="34" charset="-120"/>
                        </a:rPr>
                        <a:t>RAYANKI HIMAVARSHINI</a:t>
                      </a:r>
                      <a:endParaRPr lang="en-US" sz="18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72525"/>
                          </a:solidFill>
                          <a:latin typeface="Gelasio" pitchFamily="34" charset="0"/>
                          <a:ea typeface="Gelasio" pitchFamily="34" charset="-122"/>
                          <a:cs typeface="Gelasio" pitchFamily="34" charset="-120"/>
                        </a:rPr>
                        <a:t>2520030141</a:t>
                      </a:r>
                      <a:endParaRPr lang="en-US" sz="1800" dirty="0"/>
                    </a:p>
                  </a:txBody>
                  <a:tcPr/>
                </a:tc>
                <a:extLst>
                  <a:ext uri="{0D108BD9-81ED-4DB2-BD59-A6C34878D82A}">
                    <a16:rowId xmlns:a16="http://schemas.microsoft.com/office/drawing/2014/main" val="253518174"/>
                  </a:ext>
                </a:extLst>
              </a:tr>
              <a:tr h="344426">
                <a:tc>
                  <a:txBody>
                    <a:bodyPr/>
                    <a:lstStyle/>
                    <a:p>
                      <a:r>
                        <a:rPr lang="en-US" dirty="0"/>
                        <a:t>GURRAPU NIKSHITHA</a:t>
                      </a:r>
                    </a:p>
                  </a:txBody>
                  <a:tcPr/>
                </a:tc>
                <a:tc>
                  <a:txBody>
                    <a:bodyPr/>
                    <a:lstStyle/>
                    <a:p>
                      <a:r>
                        <a:rPr lang="en-US" dirty="0"/>
                        <a:t>2520030512</a:t>
                      </a:r>
                    </a:p>
                  </a:txBody>
                  <a:tcPr/>
                </a:tc>
                <a:extLst>
                  <a:ext uri="{0D108BD9-81ED-4DB2-BD59-A6C34878D82A}">
                    <a16:rowId xmlns:a16="http://schemas.microsoft.com/office/drawing/2014/main" val="2413438055"/>
                  </a:ext>
                </a:extLst>
              </a:tr>
              <a:tr h="5944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72525"/>
                          </a:solidFill>
                          <a:latin typeface="+mn-lt"/>
                          <a:ea typeface="Lato" pitchFamily="34" charset="-122"/>
                          <a:cs typeface="Lato" pitchFamily="34" charset="-120"/>
                        </a:rPr>
                        <a:t>VEMUA NAGA VENKATA SAI CHANDU</a:t>
                      </a:r>
                      <a:endParaRPr lang="en-US" sz="1800" dirty="0">
                        <a:latin typeface="+mn-lt"/>
                      </a:endParaRPr>
                    </a:p>
                  </a:txBody>
                  <a:tcPr/>
                </a:tc>
                <a:tc>
                  <a:txBody>
                    <a:bodyPr/>
                    <a:lstStyle/>
                    <a:p>
                      <a:r>
                        <a:rPr lang="en-US" sz="1800" dirty="0">
                          <a:solidFill>
                            <a:srgbClr val="272525"/>
                          </a:solidFill>
                          <a:latin typeface="Gelasio" pitchFamily="34" charset="0"/>
                          <a:ea typeface="Gelasio" pitchFamily="34" charset="-122"/>
                          <a:cs typeface="Gelasio" pitchFamily="34" charset="-120"/>
                        </a:rPr>
                        <a:t>2520030522</a:t>
                      </a:r>
                      <a:endParaRPr lang="en-US" dirty="0"/>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NUMBER:7</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12" name="Content Placeholder 11">
            <a:extLst>
              <a:ext uri="{FF2B5EF4-FFF2-40B4-BE49-F238E27FC236}">
                <a16:creationId xmlns:a16="http://schemas.microsoft.com/office/drawing/2014/main" id="{057A5125-4124-217F-A726-4C9022EEAA1F}"/>
              </a:ext>
            </a:extLst>
          </p:cNvPr>
          <p:cNvGraphicFramePr>
            <a:graphicFrameLocks noGrp="1"/>
          </p:cNvGraphicFramePr>
          <p:nvPr>
            <p:ph idx="1"/>
            <p:extLst>
              <p:ext uri="{D42A27DB-BD31-4B8C-83A1-F6EECF244321}">
                <p14:modId xmlns:p14="http://schemas.microsoft.com/office/powerpoint/2010/main" val="778219539"/>
              </p:ext>
            </p:extLst>
          </p:nvPr>
        </p:nvGraphicFramePr>
        <p:xfrm>
          <a:off x="378691" y="1819909"/>
          <a:ext cx="11279910" cy="726695"/>
        </p:xfrm>
        <a:graphic>
          <a:graphicData uri="http://schemas.openxmlformats.org/drawingml/2006/table">
            <a:tbl>
              <a:tblPr firstRow="1" bandRow="1">
                <a:tableStyleId>{5C22544A-7EE6-4342-B048-85BDC9FD1C3A}</a:tableStyleId>
              </a:tblPr>
              <a:tblGrid>
                <a:gridCol w="5639955">
                  <a:extLst>
                    <a:ext uri="{9D8B030D-6E8A-4147-A177-3AD203B41FA5}">
                      <a16:colId xmlns:a16="http://schemas.microsoft.com/office/drawing/2014/main" val="3752164454"/>
                    </a:ext>
                  </a:extLst>
                </a:gridCol>
                <a:gridCol w="5639955">
                  <a:extLst>
                    <a:ext uri="{9D8B030D-6E8A-4147-A177-3AD203B41FA5}">
                      <a16:colId xmlns:a16="http://schemas.microsoft.com/office/drawing/2014/main" val="1591765478"/>
                    </a:ext>
                  </a:extLst>
                </a:gridCol>
              </a:tblGrid>
              <a:tr h="726695">
                <a:tc>
                  <a:txBody>
                    <a:bodyPr/>
                    <a:lstStyle/>
                    <a:p>
                      <a:pPr algn="ctr"/>
                      <a:r>
                        <a:rPr lang="en-IN" dirty="0"/>
                        <a:t>Name of Candidate</a:t>
                      </a:r>
                    </a:p>
                  </a:txBody>
                  <a:tcPr/>
                </a:tc>
                <a:tc>
                  <a:txBody>
                    <a:bodyPr/>
                    <a:lstStyle/>
                    <a:p>
                      <a:pPr algn="ctr"/>
                      <a:r>
                        <a:rPr lang="en-IN" dirty="0"/>
                        <a:t>Role</a:t>
                      </a:r>
                    </a:p>
                  </a:txBody>
                  <a:tcPr/>
                </a:tc>
                <a:extLst>
                  <a:ext uri="{0D108BD9-81ED-4DB2-BD59-A6C34878D82A}">
                    <a16:rowId xmlns:a16="http://schemas.microsoft.com/office/drawing/2014/main" val="3149220189"/>
                  </a:ext>
                </a:extLst>
              </a:tr>
            </a:tbl>
          </a:graphicData>
        </a:graphic>
      </p:graphicFrame>
      <p:graphicFrame>
        <p:nvGraphicFramePr>
          <p:cNvPr id="13" name="Table 12">
            <a:extLst>
              <a:ext uri="{FF2B5EF4-FFF2-40B4-BE49-F238E27FC236}">
                <a16:creationId xmlns:a16="http://schemas.microsoft.com/office/drawing/2014/main" id="{874248A2-EF2F-1E62-E285-EBEB47A5C142}"/>
              </a:ext>
            </a:extLst>
          </p:cNvPr>
          <p:cNvGraphicFramePr>
            <a:graphicFrameLocks noGrp="1"/>
          </p:cNvGraphicFramePr>
          <p:nvPr>
            <p:extLst>
              <p:ext uri="{D42A27DB-BD31-4B8C-83A1-F6EECF244321}">
                <p14:modId xmlns:p14="http://schemas.microsoft.com/office/powerpoint/2010/main" val="3113677410"/>
              </p:ext>
            </p:extLst>
          </p:nvPr>
        </p:nvGraphicFramePr>
        <p:xfrm>
          <a:off x="378691" y="2546604"/>
          <a:ext cx="11279910" cy="2364518"/>
        </p:xfrm>
        <a:graphic>
          <a:graphicData uri="http://schemas.openxmlformats.org/drawingml/2006/table">
            <a:tbl>
              <a:tblPr firstRow="1" bandRow="1">
                <a:tableStyleId>{5940675A-B579-460E-94D1-54222C63F5DA}</a:tableStyleId>
              </a:tblPr>
              <a:tblGrid>
                <a:gridCol w="5639955">
                  <a:extLst>
                    <a:ext uri="{9D8B030D-6E8A-4147-A177-3AD203B41FA5}">
                      <a16:colId xmlns:a16="http://schemas.microsoft.com/office/drawing/2014/main" val="3001590565"/>
                    </a:ext>
                  </a:extLst>
                </a:gridCol>
                <a:gridCol w="5639955">
                  <a:extLst>
                    <a:ext uri="{9D8B030D-6E8A-4147-A177-3AD203B41FA5}">
                      <a16:colId xmlns:a16="http://schemas.microsoft.com/office/drawing/2014/main" val="2953991352"/>
                    </a:ext>
                  </a:extLst>
                </a:gridCol>
              </a:tblGrid>
              <a:tr h="1095328">
                <a:tc>
                  <a:txBody>
                    <a:bodyPr/>
                    <a:lstStyle/>
                    <a:p>
                      <a:pPr algn="ctr"/>
                      <a:endParaRPr lang="en-IN" dirty="0"/>
                    </a:p>
                    <a:p>
                      <a:pPr algn="ctr"/>
                      <a:r>
                        <a:rPr lang="en-IN" dirty="0"/>
                        <a:t>RAYANKI HIMAVARSHINI</a:t>
                      </a:r>
                    </a:p>
                  </a:txBody>
                  <a:tcPr/>
                </a:tc>
                <a:tc>
                  <a:txBody>
                    <a:bodyPr/>
                    <a:lstStyle/>
                    <a:p>
                      <a:pPr algn="l"/>
                      <a:r>
                        <a:rPr lang="en-IN" dirty="0"/>
                        <a:t>Team Lead &amp; Backend / Database Developer – Java , spring Boot.</a:t>
                      </a:r>
                    </a:p>
                  </a:txBody>
                  <a:tcPr/>
                </a:tc>
                <a:extLst>
                  <a:ext uri="{0D108BD9-81ED-4DB2-BD59-A6C34878D82A}">
                    <a16:rowId xmlns:a16="http://schemas.microsoft.com/office/drawing/2014/main" val="1779848113"/>
                  </a:ext>
                </a:extLst>
              </a:tr>
              <a:tr h="634595">
                <a:tc>
                  <a:txBody>
                    <a:bodyPr/>
                    <a:lstStyle/>
                    <a:p>
                      <a:pPr algn="ctr"/>
                      <a:r>
                        <a:rPr lang="en-IN" dirty="0"/>
                        <a:t>GURRAPU NIKSHITHA</a:t>
                      </a:r>
                    </a:p>
                  </a:txBody>
                  <a:tcPr/>
                </a:tc>
                <a:tc>
                  <a:txBody>
                    <a:bodyPr/>
                    <a:lstStyle/>
                    <a:p>
                      <a:r>
                        <a:rPr lang="en-IN" dirty="0"/>
                        <a:t>Frontend Developer – React , HTML , CSS</a:t>
                      </a:r>
                    </a:p>
                  </a:txBody>
                  <a:tcPr/>
                </a:tc>
                <a:extLst>
                  <a:ext uri="{0D108BD9-81ED-4DB2-BD59-A6C34878D82A}">
                    <a16:rowId xmlns:a16="http://schemas.microsoft.com/office/drawing/2014/main" val="1951168983"/>
                  </a:ext>
                </a:extLst>
              </a:tr>
              <a:tr h="634595">
                <a:tc>
                  <a:txBody>
                    <a:bodyPr/>
                    <a:lstStyle/>
                    <a:p>
                      <a:pPr algn="ctr"/>
                      <a:r>
                        <a:rPr lang="en-IN" dirty="0"/>
                        <a:t>VEMUA NAGA VENKATA SAI CHANDU</a:t>
                      </a:r>
                    </a:p>
                  </a:txBody>
                  <a:tcPr/>
                </a:tc>
                <a:tc>
                  <a:txBody>
                    <a:bodyPr/>
                    <a:lstStyle/>
                    <a:p>
                      <a:r>
                        <a:rPr lang="en-IN" dirty="0"/>
                        <a:t>Concurrency &amp; Integration developer.</a:t>
                      </a:r>
                    </a:p>
                  </a:txBody>
                  <a:tcPr/>
                </a:tc>
                <a:extLst>
                  <a:ext uri="{0D108BD9-81ED-4DB2-BD59-A6C34878D82A}">
                    <a16:rowId xmlns:a16="http://schemas.microsoft.com/office/drawing/2014/main" val="2010414822"/>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838200" y="1468582"/>
            <a:ext cx="10515600" cy="4708381"/>
          </a:xfrm>
        </p:spPr>
        <p:txBody>
          <a:bodyPr>
            <a:normAutofit/>
          </a:bodyPr>
          <a:lstStyle/>
          <a:p>
            <a:pPr marL="0" indent="0">
              <a:buNone/>
            </a:pPr>
            <a:r>
              <a:rPr lang="en-US" dirty="0"/>
              <a:t> </a:t>
            </a:r>
            <a:r>
              <a:rPr lang="en-US" sz="2400" dirty="0">
                <a:latin typeface="Times New Roman" panose="02020603050405020304" pitchFamily="18" charset="0"/>
                <a:cs typeface="Times New Roman" panose="02020603050405020304" pitchFamily="18" charset="0"/>
              </a:rPr>
              <a:t>The Ticket Booking System is a web-based application designed to simplify and automate ticket booking for movies, events, and entertainment services. Users can register, log in, browse available shows, select dates and times, view available seats, choose seats, make payments, and receive a unique booking ID and digital ticket. The system uses React for the frontend, Java and Spring Boot for backend services, and MySQL for storing user, show, seat, booking, and payment details. Users can also view booking history and cancel tickets, while administrators can manage shows, seats, users, bookings, and reports. To prevent double booking during high traffic, Redis distributed locking temporarily locks selected seats while a booking is processed. RabbitMQ manages booking and payment requests through a queue, improving system performance during high demand. The system also supports cancellation and refund processing, providing a secure, reliable, scalable, and concurrency-safe ticket booking experience for users.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Ticket Booking System is a web-based application developed to make ticket booking simple, fast, and convenient. It allows users to register, log in, browse available movies or events, select dates and show times, view available seats, choose seats, and complete bookings online. After successful payment, users receive a unique booking ID and digital ticket. The system is developed using React for the frontend, Java and Spring Boot for backend services, and MySQL for storing application data. Redis is used to prevent double booking by locking selected seats during the booking process. RabbitMQ manages booking requests efficiently during high traffic. The system also provides cancellation, refund, booking history, and administrative features. Administrators can manage shows, seats, users, bookings, and reports. Overall, the system provides a secure, reliable, scalable, and user-friendly platform for online ticket booking while preventing seat overselling.</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a:bodyPr>
          <a:lstStyle/>
          <a:p>
            <a:pPr lvl="0"/>
            <a:r>
              <a:rPr lang="en-IN" sz="2400" dirty="0">
                <a:latin typeface="Times New Roman" panose="02020603050405020304" pitchFamily="18" charset="0"/>
                <a:cs typeface="Times New Roman" panose="02020603050405020304" pitchFamily="18" charset="0"/>
              </a:rPr>
              <a:t>Manual or basic online ticket booking </a:t>
            </a:r>
          </a:p>
          <a:p>
            <a:pPr lvl="0"/>
            <a:r>
              <a:rPr lang="en-IN" sz="2400" dirty="0">
                <a:latin typeface="Times New Roman" panose="02020603050405020304" pitchFamily="18" charset="0"/>
                <a:cs typeface="Times New Roman" panose="02020603050405020304" pitchFamily="18" charset="0"/>
              </a:rPr>
              <a:t>Limited real-time seat availability </a:t>
            </a:r>
          </a:p>
          <a:p>
            <a:pPr lvl="0"/>
            <a:r>
              <a:rPr lang="en-IN" sz="2400" dirty="0">
                <a:latin typeface="Times New Roman" panose="02020603050405020304" pitchFamily="18" charset="0"/>
                <a:cs typeface="Times New Roman" panose="02020603050405020304" pitchFamily="18" charset="0"/>
              </a:rPr>
              <a:t>Risk of double booking and seat overselling </a:t>
            </a:r>
          </a:p>
          <a:p>
            <a:pPr lvl="0"/>
            <a:r>
              <a:rPr lang="en-IN" sz="2400" dirty="0">
                <a:latin typeface="Times New Roman" panose="02020603050405020304" pitchFamily="18" charset="0"/>
                <a:cs typeface="Times New Roman" panose="02020603050405020304" pitchFamily="18" charset="0"/>
              </a:rPr>
              <a:t>Slow processing during high traffic </a:t>
            </a:r>
          </a:p>
          <a:p>
            <a:pPr lvl="0"/>
            <a:r>
              <a:rPr lang="en-IN" sz="2400" dirty="0">
                <a:latin typeface="Times New Roman" panose="02020603050405020304" pitchFamily="18" charset="0"/>
                <a:cs typeface="Times New Roman" panose="02020603050405020304" pitchFamily="18" charset="0"/>
              </a:rPr>
              <a:t>Poor concurrency handling </a:t>
            </a:r>
          </a:p>
          <a:p>
            <a:pPr lvl="0"/>
            <a:r>
              <a:rPr lang="en-IN" sz="2400" dirty="0">
                <a:latin typeface="Times New Roman" panose="02020603050405020304" pitchFamily="18" charset="0"/>
                <a:cs typeface="Times New Roman" panose="02020603050405020304" pitchFamily="18" charset="0"/>
              </a:rPr>
              <a:t>Difficult cancellation and refund process </a:t>
            </a:r>
          </a:p>
          <a:p>
            <a:pPr lvl="0"/>
            <a:r>
              <a:rPr lang="en-IN" sz="2400" dirty="0">
                <a:latin typeface="Times New Roman" panose="02020603050405020304" pitchFamily="18" charset="0"/>
                <a:cs typeface="Times New Roman" panose="02020603050405020304" pitchFamily="18" charset="0"/>
              </a:rPr>
              <a:t>Limited scalability </a:t>
            </a:r>
          </a:p>
          <a:p>
            <a:pPr lvl="0"/>
            <a:r>
              <a:rPr lang="en-IN" sz="2400" dirty="0">
                <a:latin typeface="Times New Roman" panose="02020603050405020304" pitchFamily="18" charset="0"/>
                <a:cs typeface="Times New Roman" panose="02020603050405020304" pitchFamily="18" charset="0"/>
              </a:rPr>
              <a:t>Difficult management of users, shows, seats, and bookings </a:t>
            </a:r>
          </a:p>
          <a:p>
            <a:pPr lvl="0"/>
            <a:r>
              <a:rPr lang="en-IN" sz="2400" dirty="0">
                <a:latin typeface="Times New Roman" panose="02020603050405020304" pitchFamily="18" charset="0"/>
                <a:cs typeface="Times New Roman" panose="02020603050405020304" pitchFamily="18" charset="0"/>
              </a:rPr>
              <a:t>Limited booking and reporting features </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The main problem in traditional ticket booking systems is the difficulty of handling a large number of users at the same time. During busy periods, multiple users may try to book the same seat simultaneously, which can result in double booking or seat overselling. Manual booking processes can also be slow and may provide limited information about available seats, shows, and booking status. Managing cancellations, refunds, payments, and booking records can further increase administrative work. Therefore, there is a need for an online ticket booking system that provides real-time seat availability, secure booking, efficient payment processing, and proper cancellation management. The system should also handle high-concurrency requests and ensure that each seat can be successfully booked by only one user. This project aims to solve these problems by using Redis for distributed seat locking and RabbitMQ for efficient processing of multiple booking requests.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The proposed Ticket Booking System provides an efficient solution to the problems of traditional ticket booking. The system offers an online platform where users can easily register, browse shows, check real-time seat availability, select seats, make payments, and receive digital tickets. Redis distributed locking is implemented to temporarily lock a selected seat and prevent multiple users from booking the same seat at the same time. RabbitMQ is used to manage booking and payment requests through a queue, helping the system handle high traffic efficiently. The system also supports booking history, cancellation, refund processing, and administrative management. Administrators can manage shows, seats, users, bookings, and generate reports. The main contribution of this project is providing a secure, reliable, scalable, and concurrency-safe booking process that reduces manual work, prevents double booking and seat overselling, and improves the overall user experience.</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fontScale="85000" lnSpcReduction="100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develop a simple and user-friendly online ticket booking system.</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allow users to view shows, check seat availability, select seats, and book tickets online.</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prevent double booking and seat overselling using Redis distributed locking.</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handle multiple booking requests efficiently using RabbitMQ.</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secure payment, cancellation, refund, booking history, and digital ticket features.</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a:bodyPr>
          <a:lstStyle/>
          <a:p>
            <a:pPr>
              <a:buFont typeface="Wingdings" panose="05000000000000000000" pitchFamily="2" charset="2"/>
              <a:buChar char="Ø"/>
            </a:pPr>
            <a:r>
              <a:rPr lang="en-IN" sz="2600" b="1"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User Module </a:t>
            </a:r>
            <a:r>
              <a:rPr lang="en-IN" sz="2400" dirty="0">
                <a:latin typeface="Times New Roman" panose="02020603050405020304" pitchFamily="18" charset="0"/>
                <a:cs typeface="Times New Roman" panose="02020603050405020304" pitchFamily="18" charset="0"/>
              </a:rPr>
              <a:t>– Registration, login, profile management, and booking history.</a:t>
            </a:r>
          </a:p>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Show &amp; Seat Module </a:t>
            </a:r>
            <a:r>
              <a:rPr lang="en-IN" sz="2400" dirty="0">
                <a:latin typeface="Times New Roman" panose="02020603050405020304" pitchFamily="18" charset="0"/>
                <a:cs typeface="Times New Roman" panose="02020603050405020304" pitchFamily="18" charset="0"/>
              </a:rPr>
              <a:t>– Browse movies/events, view show timings and ticket prices, and check real-time seat availability.</a:t>
            </a:r>
          </a:p>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Booking &amp; Payment Module </a:t>
            </a:r>
            <a:r>
              <a:rPr lang="en-IN" sz="2400" dirty="0">
                <a:latin typeface="Times New Roman" panose="02020603050405020304" pitchFamily="18" charset="0"/>
                <a:cs typeface="Times New Roman" panose="02020603050405020304" pitchFamily="18" charset="0"/>
              </a:rPr>
              <a:t>– Select seats, book tickets, process secure payments, and generate digital tickets.</a:t>
            </a:r>
          </a:p>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Concurrency &amp; Queue Module </a:t>
            </a:r>
            <a:r>
              <a:rPr lang="en-IN" sz="2400" dirty="0">
                <a:latin typeface="Times New Roman" panose="02020603050405020304" pitchFamily="18" charset="0"/>
                <a:cs typeface="Times New Roman" panose="02020603050405020304" pitchFamily="18" charset="0"/>
              </a:rPr>
              <a:t>– Use Redis for distributed seat locking      to prevent double booking and RabbitMQ to efficiently handle multiple booking requests during high traffic.</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Admin Module </a:t>
            </a:r>
            <a:r>
              <a:rPr lang="en-IN" sz="2400" dirty="0">
                <a:latin typeface="Times New Roman" panose="02020603050405020304" pitchFamily="18" charset="0"/>
                <a:cs typeface="Times New Roman" panose="02020603050405020304" pitchFamily="18" charset="0"/>
              </a:rPr>
              <a:t>– Manage shows, seats, users, bookings, cancellations, refunds, reports, and analytics.</a:t>
            </a:r>
          </a:p>
          <a:p>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pPr lvl="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Frontend:</a:t>
            </a:r>
            <a:r>
              <a:rPr lang="en-IN" sz="2400" dirty="0">
                <a:latin typeface="Times New Roman" panose="02020603050405020304" pitchFamily="18" charset="0"/>
                <a:cs typeface="Times New Roman" panose="02020603050405020304" pitchFamily="18" charset="0"/>
              </a:rPr>
              <a:t> React.js </a:t>
            </a:r>
          </a:p>
          <a:p>
            <a:pPr lvl="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Backend:</a:t>
            </a:r>
            <a:r>
              <a:rPr lang="en-IN" sz="2400" dirty="0">
                <a:latin typeface="Times New Roman" panose="02020603050405020304" pitchFamily="18" charset="0"/>
                <a:cs typeface="Times New Roman" panose="02020603050405020304" pitchFamily="18" charset="0"/>
              </a:rPr>
              <a:t> Java &amp; Spring Boot </a:t>
            </a:r>
          </a:p>
          <a:p>
            <a:pPr lvl="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Database:</a:t>
            </a:r>
            <a:r>
              <a:rPr lang="en-IN" sz="2400" dirty="0">
                <a:latin typeface="Times New Roman" panose="02020603050405020304" pitchFamily="18" charset="0"/>
                <a:cs typeface="Times New Roman" panose="02020603050405020304" pitchFamily="18" charset="0"/>
              </a:rPr>
              <a:t> MySQL </a:t>
            </a:r>
          </a:p>
          <a:p>
            <a:pPr lvl="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Seat Locking:</a:t>
            </a:r>
            <a:r>
              <a:rPr lang="en-IN" sz="2400" dirty="0">
                <a:latin typeface="Times New Roman" panose="02020603050405020304" pitchFamily="18" charset="0"/>
                <a:cs typeface="Times New Roman" panose="02020603050405020304" pitchFamily="18" charset="0"/>
              </a:rPr>
              <a:t> Redis </a:t>
            </a:r>
          </a:p>
          <a:p>
            <a:pPr lvl="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Message Queue:</a:t>
            </a:r>
            <a:r>
              <a:rPr lang="en-IN" sz="2400" dirty="0">
                <a:latin typeface="Times New Roman" panose="02020603050405020304" pitchFamily="18" charset="0"/>
                <a:cs typeface="Times New Roman" panose="02020603050405020304" pitchFamily="18" charset="0"/>
              </a:rPr>
              <a:t> RabbitMQ </a:t>
            </a:r>
          </a:p>
          <a:p>
            <a:pPr lvl="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Operating System:</a:t>
            </a:r>
            <a:r>
              <a:rPr lang="en-IN" sz="2400" dirty="0">
                <a:latin typeface="Times New Roman" panose="02020603050405020304" pitchFamily="18" charset="0"/>
                <a:cs typeface="Times New Roman" panose="02020603050405020304" pitchFamily="18" charset="0"/>
              </a:rPr>
              <a:t> Windows / Linux </a:t>
            </a:r>
          </a:p>
          <a:p>
            <a:pPr lvl="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Development Environment:</a:t>
            </a:r>
            <a:r>
              <a:rPr lang="en-IN" sz="2400" dirty="0">
                <a:latin typeface="Times New Roman" panose="02020603050405020304" pitchFamily="18" charset="0"/>
                <a:cs typeface="Times New Roman" panose="02020603050405020304" pitchFamily="18" charset="0"/>
              </a:rPr>
              <a:t> VS Code / IntelliJ IDEA </a:t>
            </a:r>
          </a:p>
          <a:p>
            <a:pPr lvl="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Web Browser:</a:t>
            </a:r>
            <a:r>
              <a:rPr lang="en-IN" sz="2400" dirty="0">
                <a:latin typeface="Times New Roman" panose="02020603050405020304" pitchFamily="18" charset="0"/>
                <a:cs typeface="Times New Roman" panose="02020603050405020304" pitchFamily="18" charset="0"/>
              </a:rPr>
              <a:t> Google Chrome / Microsoft Edge</a:t>
            </a:r>
          </a:p>
          <a:p>
            <a:endParaRPr lang="en-US" b="1"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6" name="TextBox 5">
            <a:extLst>
              <a:ext uri="{FF2B5EF4-FFF2-40B4-BE49-F238E27FC236}">
                <a16:creationId xmlns:a16="http://schemas.microsoft.com/office/drawing/2014/main" id="{D6B1EF24-7B3A-38BC-F963-C482E6AAE03F}"/>
              </a:ext>
            </a:extLst>
          </p:cNvPr>
          <p:cNvSpPr txBox="1"/>
          <p:nvPr/>
        </p:nvSpPr>
        <p:spPr>
          <a:xfrm>
            <a:off x="838199" y="1182255"/>
            <a:ext cx="11270673" cy="5262979"/>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In the future, the Ticket Booking System can be further enhanced with several advanced features.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system can be developed as a mobile application for Android and iOS users.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It can be deployed on cloud platforms for better scalability and availability.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Advanced booking, revenue, and user analytics can be added for administrators.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system can provide email and SMS notifications for bookings and cancellations.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Secure and reliable online payment gateway integration can be improved further.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AI-based recommendations can be introduced to suggest movies or events to users.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system can support multiple theaters and locations.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Real-time notifications can be provided for seat availability and booking status.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Security can be enhanced with stronger authentication and authorization mechanisms.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system can be optimized to handle larger numbers of concurrent users.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Overall, these enhancements can make the platform more scalable, secure, convenient, and user-friendly.</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8293</TotalTime>
  <Words>1259</Words>
  <Application>Microsoft Office PowerPoint</Application>
  <PresentationFormat>Widescreen</PresentationFormat>
  <Paragraphs>107</Paragraphs>
  <Slides>12</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Algerian</vt:lpstr>
      <vt:lpstr>Arial</vt:lpstr>
      <vt:lpstr>Calibri</vt:lpstr>
      <vt:lpstr>Calibri Light</vt:lpstr>
      <vt:lpstr>Gelasio</vt:lpstr>
      <vt:lpstr>Times New Roman</vt:lpstr>
      <vt:lpstr>Wingdings</vt:lpstr>
      <vt:lpstr>Office Theme</vt:lpstr>
      <vt:lpstr>Custom Design</vt:lpstr>
      <vt:lpstr>1st  REVIEW  TICKET BOOKING SYSTEM  </vt:lpstr>
      <vt:lpstr>GROUP NUMBER:7</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919032465791</cp:lastModifiedBy>
  <cp:revision>98</cp:revision>
  <dcterms:created xsi:type="dcterms:W3CDTF">2022-05-20T10:20:31Z</dcterms:created>
  <dcterms:modified xsi:type="dcterms:W3CDTF">2026-08-20T06:56:16Z</dcterms:modified>
</cp:coreProperties>
</file>